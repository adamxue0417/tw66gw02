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oppins Medium" panose="000006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0" y="1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airidh Cullen" userId="1a4c184e-d5f6-4810-b2bd-a4d388ab935d" providerId="ADAL" clId="{9533C6A1-66B6-48C6-A1BF-E5BF1F14437B}"/>
    <pc:docChg chg="custSel addSld delSld modSld">
      <pc:chgData name="Ruairidh Cullen" userId="1a4c184e-d5f6-4810-b2bd-a4d388ab935d" providerId="ADAL" clId="{9533C6A1-66B6-48C6-A1BF-E5BF1F14437B}" dt="2026-06-01T14:50:34.413" v="347" actId="20577"/>
      <pc:docMkLst>
        <pc:docMk/>
      </pc:docMkLst>
      <pc:sldChg chg="modSp mod">
        <pc:chgData name="Ruairidh Cullen" userId="1a4c184e-d5f6-4810-b2bd-a4d388ab935d" providerId="ADAL" clId="{9533C6A1-66B6-48C6-A1BF-E5BF1F14437B}" dt="2026-06-01T14:50:34.413" v="347" actId="20577"/>
        <pc:sldMkLst>
          <pc:docMk/>
          <pc:sldMk cId="0" sldId="256"/>
        </pc:sldMkLst>
        <pc:spChg chg="mod">
          <ac:chgData name="Ruairidh Cullen" userId="1a4c184e-d5f6-4810-b2bd-a4d388ab935d" providerId="ADAL" clId="{9533C6A1-66B6-48C6-A1BF-E5BF1F14437B}" dt="2026-06-01T14:50:34.413" v="347" actId="20577"/>
          <ac:spMkLst>
            <pc:docMk/>
            <pc:sldMk cId="0" sldId="256"/>
            <ac:spMk id="87" creationId="{00000000-0000-0000-0000-000000000000}"/>
          </ac:spMkLst>
        </pc:spChg>
      </pc:sldChg>
      <pc:sldChg chg="modSp mod">
        <pc:chgData name="Ruairidh Cullen" userId="1a4c184e-d5f6-4810-b2bd-a4d388ab935d" providerId="ADAL" clId="{9533C6A1-66B6-48C6-A1BF-E5BF1F14437B}" dt="2026-06-01T14:47:45.245" v="220" actId="20577"/>
        <pc:sldMkLst>
          <pc:docMk/>
          <pc:sldMk cId="0" sldId="257"/>
        </pc:sldMkLst>
        <pc:spChg chg="mod">
          <ac:chgData name="Ruairidh Cullen" userId="1a4c184e-d5f6-4810-b2bd-a4d388ab935d" providerId="ADAL" clId="{9533C6A1-66B6-48C6-A1BF-E5BF1F14437B}" dt="2026-06-01T14:47:45.245" v="220" actId="20577"/>
          <ac:spMkLst>
            <pc:docMk/>
            <pc:sldMk cId="0" sldId="257"/>
            <ac:spMk id="93" creationId="{00000000-0000-0000-0000-000000000000}"/>
          </ac:spMkLst>
        </pc:spChg>
      </pc:sldChg>
      <pc:sldChg chg="delSp modSp mod">
        <pc:chgData name="Ruairidh Cullen" userId="1a4c184e-d5f6-4810-b2bd-a4d388ab935d" providerId="ADAL" clId="{9533C6A1-66B6-48C6-A1BF-E5BF1F14437B}" dt="2026-06-01T14:48:12.320" v="262" actId="20577"/>
        <pc:sldMkLst>
          <pc:docMk/>
          <pc:sldMk cId="0" sldId="258"/>
        </pc:sldMkLst>
        <pc:spChg chg="del mod">
          <ac:chgData name="Ruairidh Cullen" userId="1a4c184e-d5f6-4810-b2bd-a4d388ab935d" providerId="ADAL" clId="{9533C6A1-66B6-48C6-A1BF-E5BF1F14437B}" dt="2026-06-01T14:47:57.594" v="222" actId="478"/>
          <ac:spMkLst>
            <pc:docMk/>
            <pc:sldMk cId="0" sldId="258"/>
            <ac:spMk id="98" creationId="{00000000-0000-0000-0000-000000000000}"/>
          </ac:spMkLst>
        </pc:spChg>
        <pc:spChg chg="mod">
          <ac:chgData name="Ruairidh Cullen" userId="1a4c184e-d5f6-4810-b2bd-a4d388ab935d" providerId="ADAL" clId="{9533C6A1-66B6-48C6-A1BF-E5BF1F14437B}" dt="2026-06-01T14:48:12.320" v="262" actId="20577"/>
          <ac:spMkLst>
            <pc:docMk/>
            <pc:sldMk cId="0" sldId="258"/>
            <ac:spMk id="99" creationId="{00000000-0000-0000-0000-000000000000}"/>
          </ac:spMkLst>
        </pc:spChg>
      </pc:sldChg>
      <pc:sldChg chg="modSp mod">
        <pc:chgData name="Ruairidh Cullen" userId="1a4c184e-d5f6-4810-b2bd-a4d388ab935d" providerId="ADAL" clId="{9533C6A1-66B6-48C6-A1BF-E5BF1F14437B}" dt="2026-06-01T14:48:34.907" v="268" actId="20577"/>
        <pc:sldMkLst>
          <pc:docMk/>
          <pc:sldMk cId="0" sldId="260"/>
        </pc:sldMkLst>
        <pc:spChg chg="mod">
          <ac:chgData name="Ruairidh Cullen" userId="1a4c184e-d5f6-4810-b2bd-a4d388ab935d" providerId="ADAL" clId="{9533C6A1-66B6-48C6-A1BF-E5BF1F14437B}" dt="2026-06-01T14:48:34.907" v="268" actId="20577"/>
          <ac:spMkLst>
            <pc:docMk/>
            <pc:sldMk cId="0" sldId="260"/>
            <ac:spMk id="122" creationId="{00000000-0000-0000-0000-000000000000}"/>
          </ac:spMkLst>
        </pc:spChg>
      </pc:sldChg>
      <pc:sldChg chg="del">
        <pc:chgData name="Ruairidh Cullen" userId="1a4c184e-d5f6-4810-b2bd-a4d388ab935d" providerId="ADAL" clId="{9533C6A1-66B6-48C6-A1BF-E5BF1F14437B}" dt="2026-06-01T14:49:06.528" v="269" actId="2696"/>
        <pc:sldMkLst>
          <pc:docMk/>
          <pc:sldMk cId="0" sldId="262"/>
        </pc:sldMkLst>
      </pc:sldChg>
      <pc:sldChg chg="del">
        <pc:chgData name="Ruairidh Cullen" userId="1a4c184e-d5f6-4810-b2bd-a4d388ab935d" providerId="ADAL" clId="{9533C6A1-66B6-48C6-A1BF-E5BF1F14437B}" dt="2026-06-01T14:49:20.536" v="270" actId="2696"/>
        <pc:sldMkLst>
          <pc:docMk/>
          <pc:sldMk cId="0" sldId="263"/>
        </pc:sldMkLst>
      </pc:sldChg>
      <pc:sldChg chg="del">
        <pc:chgData name="Ruairidh Cullen" userId="1a4c184e-d5f6-4810-b2bd-a4d388ab935d" providerId="ADAL" clId="{9533C6A1-66B6-48C6-A1BF-E5BF1F14437B}" dt="2026-06-01T14:49:23.476" v="271" actId="2696"/>
        <pc:sldMkLst>
          <pc:docMk/>
          <pc:sldMk cId="0" sldId="264"/>
        </pc:sldMkLst>
      </pc:sldChg>
      <pc:sldChg chg="del">
        <pc:chgData name="Ruairidh Cullen" userId="1a4c184e-d5f6-4810-b2bd-a4d388ab935d" providerId="ADAL" clId="{9533C6A1-66B6-48C6-A1BF-E5BF1F14437B}" dt="2026-06-01T14:49:29.856" v="272" actId="2696"/>
        <pc:sldMkLst>
          <pc:docMk/>
          <pc:sldMk cId="0" sldId="265"/>
        </pc:sldMkLst>
      </pc:sldChg>
      <pc:sldChg chg="del">
        <pc:chgData name="Ruairidh Cullen" userId="1a4c184e-d5f6-4810-b2bd-a4d388ab935d" providerId="ADAL" clId="{9533C6A1-66B6-48C6-A1BF-E5BF1F14437B}" dt="2026-06-01T14:49:33.885" v="273" actId="2696"/>
        <pc:sldMkLst>
          <pc:docMk/>
          <pc:sldMk cId="0" sldId="266"/>
        </pc:sldMkLst>
      </pc:sldChg>
      <pc:sldChg chg="del">
        <pc:chgData name="Ruairidh Cullen" userId="1a4c184e-d5f6-4810-b2bd-a4d388ab935d" providerId="ADAL" clId="{9533C6A1-66B6-48C6-A1BF-E5BF1F14437B}" dt="2026-06-01T14:49:36.486" v="274" actId="2696"/>
        <pc:sldMkLst>
          <pc:docMk/>
          <pc:sldMk cId="0" sldId="267"/>
        </pc:sldMkLst>
      </pc:sldChg>
      <pc:sldChg chg="del">
        <pc:chgData name="Ruairidh Cullen" userId="1a4c184e-d5f6-4810-b2bd-a4d388ab935d" providerId="ADAL" clId="{9533C6A1-66B6-48C6-A1BF-E5BF1F14437B}" dt="2026-06-01T14:49:39.991" v="275" actId="2696"/>
        <pc:sldMkLst>
          <pc:docMk/>
          <pc:sldMk cId="0" sldId="268"/>
        </pc:sldMkLst>
      </pc:sldChg>
      <pc:sldChg chg="del">
        <pc:chgData name="Ruairidh Cullen" userId="1a4c184e-d5f6-4810-b2bd-a4d388ab935d" providerId="ADAL" clId="{9533C6A1-66B6-48C6-A1BF-E5BF1F14437B}" dt="2026-06-01T14:49:43.755" v="276" actId="2696"/>
        <pc:sldMkLst>
          <pc:docMk/>
          <pc:sldMk cId="0" sldId="269"/>
        </pc:sldMkLst>
      </pc:sldChg>
      <pc:sldChg chg="del">
        <pc:chgData name="Ruairidh Cullen" userId="1a4c184e-d5f6-4810-b2bd-a4d388ab935d" providerId="ADAL" clId="{9533C6A1-66B6-48C6-A1BF-E5BF1F14437B}" dt="2026-06-01T14:49:47.451" v="277" actId="2696"/>
        <pc:sldMkLst>
          <pc:docMk/>
          <pc:sldMk cId="0" sldId="270"/>
        </pc:sldMkLst>
      </pc:sldChg>
      <pc:sldChg chg="del">
        <pc:chgData name="Ruairidh Cullen" userId="1a4c184e-d5f6-4810-b2bd-a4d388ab935d" providerId="ADAL" clId="{9533C6A1-66B6-48C6-A1BF-E5BF1F14437B}" dt="2026-06-01T14:49:51.118" v="278" actId="2696"/>
        <pc:sldMkLst>
          <pc:docMk/>
          <pc:sldMk cId="0" sldId="271"/>
        </pc:sldMkLst>
      </pc:sldChg>
      <pc:sldChg chg="del">
        <pc:chgData name="Ruairidh Cullen" userId="1a4c184e-d5f6-4810-b2bd-a4d388ab935d" providerId="ADAL" clId="{9533C6A1-66B6-48C6-A1BF-E5BF1F14437B}" dt="2026-06-01T14:49:54.116" v="279" actId="2696"/>
        <pc:sldMkLst>
          <pc:docMk/>
          <pc:sldMk cId="0" sldId="272"/>
        </pc:sldMkLst>
      </pc:sldChg>
      <pc:sldChg chg="del">
        <pc:chgData name="Ruairidh Cullen" userId="1a4c184e-d5f6-4810-b2bd-a4d388ab935d" providerId="ADAL" clId="{9533C6A1-66B6-48C6-A1BF-E5BF1F14437B}" dt="2026-06-01T14:50:01.075" v="282" actId="2696"/>
        <pc:sldMkLst>
          <pc:docMk/>
          <pc:sldMk cId="0" sldId="273"/>
        </pc:sldMkLst>
      </pc:sldChg>
      <pc:sldChg chg="del">
        <pc:chgData name="Ruairidh Cullen" userId="1a4c184e-d5f6-4810-b2bd-a4d388ab935d" providerId="ADAL" clId="{9533C6A1-66B6-48C6-A1BF-E5BF1F14437B}" dt="2026-06-01T14:50:04.158" v="283" actId="2696"/>
        <pc:sldMkLst>
          <pc:docMk/>
          <pc:sldMk cId="0" sldId="274"/>
        </pc:sldMkLst>
      </pc:sldChg>
      <pc:sldChg chg="add del">
        <pc:chgData name="Ruairidh Cullen" userId="1a4c184e-d5f6-4810-b2bd-a4d388ab935d" providerId="ADAL" clId="{9533C6A1-66B6-48C6-A1BF-E5BF1F14437B}" dt="2026-06-01T14:49:58.961" v="281" actId="2696"/>
        <pc:sldMkLst>
          <pc:docMk/>
          <pc:sldMk cId="3246170076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b2e0055cb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b2e0055cb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f1c6e95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f1c6e95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38f41d4c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38f41d4c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b2e0055cb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b2e0055cb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1ef777c7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1ef777c7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1ef777c79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1ef777c79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29303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9625" y="912950"/>
            <a:ext cx="7688100" cy="1664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  <a:defRPr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9627" y="3130200"/>
            <a:ext cx="7688100" cy="5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 Medium"/>
              <a:buNone/>
              <a:defRPr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41641" y="2821250"/>
            <a:ext cx="477731" cy="65351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1650" y="466025"/>
            <a:ext cx="1043724" cy="619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solidFill>
          <a:srgbClr val="FFC52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729625" y="912950"/>
            <a:ext cx="7688100" cy="1664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93035"/>
              </a:buClr>
              <a:buSzPts val="3200"/>
              <a:buFont typeface="Poppins"/>
              <a:buNone/>
              <a:defRPr sz="3200">
                <a:solidFill>
                  <a:srgbClr val="29303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Poppins"/>
              <a:buNone/>
              <a:defRPr sz="4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Poppins"/>
              <a:buNone/>
              <a:defRPr sz="4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Poppins"/>
              <a:buNone/>
              <a:defRPr sz="4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Poppins"/>
              <a:buNone/>
              <a:defRPr sz="4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Poppins"/>
              <a:buNone/>
              <a:defRPr sz="4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Poppins"/>
              <a:buNone/>
              <a:defRPr sz="4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Poppins"/>
              <a:buNone/>
              <a:defRPr sz="4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Poppins"/>
              <a:buNone/>
              <a:defRPr sz="4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729627" y="3130200"/>
            <a:ext cx="7688100" cy="5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3035"/>
              </a:buClr>
              <a:buSzPts val="1600"/>
              <a:buFont typeface="Poppins Medium"/>
              <a:buNone/>
              <a:defRPr sz="1600">
                <a:solidFill>
                  <a:srgbClr val="29303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41641" y="2821250"/>
            <a:ext cx="477731" cy="65351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1650" y="526450"/>
            <a:ext cx="1023500" cy="607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FC52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473300" y="577425"/>
            <a:ext cx="7944600" cy="225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4" name="Google Shape;24;p4"/>
          <p:cNvGrpSpPr/>
          <p:nvPr/>
        </p:nvGrpSpPr>
        <p:grpSpPr>
          <a:xfrm>
            <a:off x="513041" y="1093825"/>
            <a:ext cx="477731" cy="65351"/>
            <a:chOff x="4580561" y="2589004"/>
            <a:chExt cx="1064464" cy="25200"/>
          </a:xfrm>
        </p:grpSpPr>
        <p:sp>
          <p:nvSpPr>
            <p:cNvPr id="25" name="Google Shape;2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8975" y="4560628"/>
            <a:ext cx="547350" cy="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1800" y="0"/>
            <a:ext cx="9144000" cy="208200"/>
          </a:xfrm>
          <a:prstGeom prst="rect">
            <a:avLst/>
          </a:prstGeom>
          <a:solidFill>
            <a:srgbClr val="FFC5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24650" y="526175"/>
            <a:ext cx="7688700" cy="5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24650" y="1286400"/>
            <a:ext cx="7993500" cy="22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32" name="Google Shape;3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8975" y="4560628"/>
            <a:ext cx="547350" cy="33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5"/>
          <p:cNvGrpSpPr/>
          <p:nvPr/>
        </p:nvGrpSpPr>
        <p:grpSpPr>
          <a:xfrm>
            <a:off x="436841" y="1017625"/>
            <a:ext cx="477731" cy="65351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24650" y="532266"/>
            <a:ext cx="7688400" cy="5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24525" y="1292491"/>
            <a:ext cx="3774300" cy="22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5024604" y="1292491"/>
            <a:ext cx="3774300" cy="22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40" name="Google Shape;4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8975" y="4560628"/>
            <a:ext cx="547350" cy="33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6"/>
          <p:cNvGrpSpPr/>
          <p:nvPr/>
        </p:nvGrpSpPr>
        <p:grpSpPr>
          <a:xfrm>
            <a:off x="436841" y="1017625"/>
            <a:ext cx="477731" cy="65351"/>
            <a:chOff x="4580561" y="2589004"/>
            <a:chExt cx="1064464" cy="25200"/>
          </a:xfrm>
        </p:grpSpPr>
        <p:sp>
          <p:nvSpPr>
            <p:cNvPr id="42" name="Google Shape;42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8975" y="4560628"/>
            <a:ext cx="547350" cy="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24650" y="526175"/>
            <a:ext cx="7688700" cy="5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47" name="Google Shape;47;p7"/>
          <p:cNvGrpSpPr/>
          <p:nvPr/>
        </p:nvGrpSpPr>
        <p:grpSpPr>
          <a:xfrm>
            <a:off x="436841" y="1017625"/>
            <a:ext cx="477731" cy="65351"/>
            <a:chOff x="4580561" y="2589004"/>
            <a:chExt cx="1064464" cy="25200"/>
          </a:xfrm>
        </p:grpSpPr>
        <p:sp>
          <p:nvSpPr>
            <p:cNvPr id="48" name="Google Shape;48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8975" y="4560628"/>
            <a:ext cx="547350" cy="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24650" y="526175"/>
            <a:ext cx="7688700" cy="5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53" name="Google Shape;53;p8"/>
          <p:cNvGrpSpPr/>
          <p:nvPr/>
        </p:nvGrpSpPr>
        <p:grpSpPr>
          <a:xfrm>
            <a:off x="436841" y="1017625"/>
            <a:ext cx="477731" cy="65351"/>
            <a:chOff x="4580561" y="2589004"/>
            <a:chExt cx="1064464" cy="25200"/>
          </a:xfrm>
        </p:grpSpPr>
        <p:sp>
          <p:nvSpPr>
            <p:cNvPr id="54" name="Google Shape;54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8"/>
          <p:cNvSpPr txBox="1"/>
          <p:nvPr/>
        </p:nvSpPr>
        <p:spPr>
          <a:xfrm>
            <a:off x="311725" y="2194250"/>
            <a:ext cx="2382900" cy="25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3377412" y="2194250"/>
            <a:ext cx="2382900" cy="25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58" name="Google Shape;58;p8"/>
          <p:cNvSpPr txBox="1"/>
          <p:nvPr/>
        </p:nvSpPr>
        <p:spPr>
          <a:xfrm>
            <a:off x="6443100" y="2194250"/>
            <a:ext cx="2382900" cy="25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59" name="Google Shape;59;p8"/>
          <p:cNvSpPr txBox="1"/>
          <p:nvPr/>
        </p:nvSpPr>
        <p:spPr>
          <a:xfrm>
            <a:off x="318082" y="1445000"/>
            <a:ext cx="23829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0" name="Google Shape;60;p8"/>
          <p:cNvSpPr txBox="1"/>
          <p:nvPr/>
        </p:nvSpPr>
        <p:spPr>
          <a:xfrm>
            <a:off x="3383769" y="1445000"/>
            <a:ext cx="23829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6449456" y="1445000"/>
            <a:ext cx="23829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FFC52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424650" y="407100"/>
            <a:ext cx="7021200" cy="73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8975" y="4560628"/>
            <a:ext cx="547350" cy="33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9"/>
          <p:cNvGrpSpPr/>
          <p:nvPr/>
        </p:nvGrpSpPr>
        <p:grpSpPr>
          <a:xfrm>
            <a:off x="436841" y="1093825"/>
            <a:ext cx="477731" cy="65351"/>
            <a:chOff x="4580561" y="2589004"/>
            <a:chExt cx="1064464" cy="25200"/>
          </a:xfrm>
        </p:grpSpPr>
        <p:sp>
          <p:nvSpPr>
            <p:cNvPr id="66" name="Google Shape;66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pic>
        <p:nvPicPr>
          <p:cNvPr id="70" name="Google Shape;7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8975" y="4560628"/>
            <a:ext cx="547350" cy="3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293035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500850" y="733950"/>
            <a:ext cx="7688400" cy="12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727800" y="2064013"/>
            <a:ext cx="7688400" cy="158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8977" y="4560619"/>
            <a:ext cx="547346" cy="33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1"/>
          <p:cNvGrpSpPr/>
          <p:nvPr/>
        </p:nvGrpSpPr>
        <p:grpSpPr>
          <a:xfrm>
            <a:off x="513041" y="1261475"/>
            <a:ext cx="477731" cy="65351"/>
            <a:chOff x="4580561" y="2589004"/>
            <a:chExt cx="1064464" cy="25200"/>
          </a:xfrm>
        </p:grpSpPr>
        <p:sp>
          <p:nvSpPr>
            <p:cNvPr id="76" name="Google Shape;76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C5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8975" y="4560628"/>
            <a:ext cx="547350" cy="3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">
    <p:bg>
      <p:bgPr>
        <a:solidFill>
          <a:srgbClr val="FFC52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729450" y="977475"/>
            <a:ext cx="7021200" cy="298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82" name="Google Shape;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1650" y="981338"/>
            <a:ext cx="1023500" cy="607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oppins Medium"/>
              <a:buChar char="●"/>
              <a:defRPr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lvl="1" indent="-2984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oppins Medium"/>
              <a:buChar char="○"/>
              <a:defRPr sz="11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L="1371600" lvl="2" indent="-2984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oppins Medium"/>
              <a:buChar char="■"/>
              <a:defRPr sz="11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L="1828800" lvl="3" indent="-2984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oppins Medium"/>
              <a:buChar char="●"/>
              <a:defRPr sz="11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L="2286000" lvl="4" indent="-2984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oppins Medium"/>
              <a:buChar char="○"/>
              <a:defRPr sz="11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L="2743200" lvl="5" indent="-2984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oppins Medium"/>
              <a:buChar char="■"/>
              <a:defRPr sz="11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L="3200400" lvl="6" indent="-2984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oppins Medium"/>
              <a:buChar char="●"/>
              <a:defRPr sz="11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L="3657600" lvl="7" indent="-2984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oppins Medium"/>
              <a:buChar char="○"/>
              <a:defRPr sz="11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L="4114800" lvl="8" indent="-29845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Poppins Medium"/>
              <a:buChar char="■"/>
              <a:defRPr sz="11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ctrTitle"/>
          </p:nvPr>
        </p:nvSpPr>
        <p:spPr>
          <a:xfrm>
            <a:off x="729625" y="912950"/>
            <a:ext cx="7688100" cy="1664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Applying temperature readout adjustment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473300" y="577425"/>
            <a:ext cx="7944600" cy="4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Problem Statement </a:t>
            </a:r>
            <a:endParaRPr sz="2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382250" y="1225800"/>
            <a:ext cx="8126700" cy="26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Measured temperature by the MATHIS cook surface and air temperature sensors do not match those of the thermocouples during testing. They require adjustment to give accurate readings to customers. </a:t>
            </a:r>
            <a:endParaRPr sz="1300" dirty="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727800" y="2064013"/>
            <a:ext cx="7688400" cy="158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How Ooni handles this within our ovens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424650" y="526175"/>
            <a:ext cx="7688700" cy="5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DTH Logic Overview</a:t>
            </a:r>
            <a:endParaRPr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88" y="1462575"/>
            <a:ext cx="2213324" cy="1920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/>
          <p:nvPr/>
        </p:nvSpPr>
        <p:spPr>
          <a:xfrm>
            <a:off x="2076500" y="1683600"/>
            <a:ext cx="130800" cy="130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181550" y="3427025"/>
            <a:ext cx="28086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thermocouple (temperature sensor) reads the temperature at it’s location in the oven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08" name="Google Shape;108;p17"/>
          <p:cNvCxnSpPr/>
          <p:nvPr/>
        </p:nvCxnSpPr>
        <p:spPr>
          <a:xfrm>
            <a:off x="2897963" y="2571750"/>
            <a:ext cx="33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" name="Google Shape;109;p17"/>
          <p:cNvSpPr txBox="1"/>
          <p:nvPr/>
        </p:nvSpPr>
        <p:spPr>
          <a:xfrm>
            <a:off x="3443325" y="1570950"/>
            <a:ext cx="2277900" cy="20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93035"/>
                </a:solidFill>
                <a:latin typeface="Poppins"/>
                <a:ea typeface="Poppins"/>
                <a:cs typeface="Poppins"/>
                <a:sym typeface="Poppins"/>
              </a:rPr>
              <a:t>y=Ax^4+Bx^3+Cx^2+Dx+E</a:t>
            </a:r>
            <a:endParaRPr sz="1200" b="1">
              <a:solidFill>
                <a:srgbClr val="29303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93035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‘raw’ temperature from the thermocouple is transformed by a coefficient (a polynomial equation) so that it is more representative of cooking temperatures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10" name="Google Shape;110;p17"/>
          <p:cNvCxnSpPr/>
          <p:nvPr/>
        </p:nvCxnSpPr>
        <p:spPr>
          <a:xfrm>
            <a:off x="5942800" y="2571750"/>
            <a:ext cx="33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111;p17"/>
          <p:cNvSpPr txBox="1"/>
          <p:nvPr/>
        </p:nvSpPr>
        <p:spPr>
          <a:xfrm>
            <a:off x="6174400" y="3207600"/>
            <a:ext cx="28086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transformed temperature reading is displayed on the DTH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1332" y="1789399"/>
            <a:ext cx="1902569" cy="1266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479200" y="4523625"/>
            <a:ext cx="76887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Each oven has it’s own coefficient which is controlled by selecting an oven profile</a:t>
            </a:r>
            <a:endParaRPr sz="12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1971950" y="1136250"/>
            <a:ext cx="339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x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7442663" y="1298700"/>
            <a:ext cx="339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076500" y="1422300"/>
            <a:ext cx="130800" cy="261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C5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7" name="Google Shape;117;p17"/>
          <p:cNvSpPr/>
          <p:nvPr/>
        </p:nvSpPr>
        <p:spPr>
          <a:xfrm rot="10800000">
            <a:off x="7547225" y="1570950"/>
            <a:ext cx="130800" cy="261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C5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424650" y="526175"/>
            <a:ext cx="7688700" cy="5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a coefficient is made</a:t>
            </a:r>
            <a:endParaRPr dirty="0"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275" y="2445500"/>
            <a:ext cx="1198250" cy="19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424650" y="1061375"/>
            <a:ext cx="81267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oppins Medium"/>
              <a:buAutoNum type="arabicPeriod"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test thermocouple array is placed on the stone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oppins Medium"/>
              <a:buAutoNum type="arabicPeriod"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DTH measures raw temperature from oven thermocouple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oppins Medium"/>
              <a:buAutoNum type="arabicPeriod"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Both temperature curves are mapped and compared 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oppins Medium"/>
              <a:buAutoNum type="arabicPeriod"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coefficient is created to modify the raw oven thermocouple readouts to better represent the temperature in the centre of the oven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5401" y="2546187"/>
            <a:ext cx="2311949" cy="1719774"/>
          </a:xfrm>
          <a:prstGeom prst="rect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3400" y="2546175"/>
            <a:ext cx="2202314" cy="171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00" y="1520975"/>
            <a:ext cx="5070299" cy="316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424650" y="526175"/>
            <a:ext cx="7688700" cy="5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Koda 2 Pro Coefficient 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447625" y="1081850"/>
            <a:ext cx="7996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the case of the Koda 2 Pro the coefficient operates as follows: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34" name="Google Shape;134;p19"/>
          <p:cNvCxnSpPr>
            <a:stCxn id="135" idx="1"/>
          </p:cNvCxnSpPr>
          <p:nvPr/>
        </p:nvCxnSpPr>
        <p:spPr>
          <a:xfrm flipH="1">
            <a:off x="3503400" y="2705750"/>
            <a:ext cx="2604600" cy="698100"/>
          </a:xfrm>
          <a:prstGeom prst="straightConnector1">
            <a:avLst/>
          </a:prstGeom>
          <a:noFill/>
          <a:ln w="9525" cap="flat" cmpd="sng">
            <a:solidFill>
              <a:srgbClr val="FFC52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" name="Google Shape;136;p19"/>
          <p:cNvSpPr txBox="1"/>
          <p:nvPr/>
        </p:nvSpPr>
        <p:spPr>
          <a:xfrm>
            <a:off x="6108000" y="1617050"/>
            <a:ext cx="2686500" cy="535200"/>
          </a:xfrm>
          <a:prstGeom prst="rect">
            <a:avLst/>
          </a:prstGeom>
          <a:noFill/>
          <a:ln w="9525" cap="flat" cmpd="sng">
            <a:solidFill>
              <a:srgbClr val="FFC5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Max reading the DTH can display is 537°C (999°F)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37" name="Google Shape;137;p19"/>
          <p:cNvCxnSpPr/>
          <p:nvPr/>
        </p:nvCxnSpPr>
        <p:spPr>
          <a:xfrm flipH="1">
            <a:off x="3477900" y="1915850"/>
            <a:ext cx="2630100" cy="1077300"/>
          </a:xfrm>
          <a:prstGeom prst="straightConnector1">
            <a:avLst/>
          </a:prstGeom>
          <a:noFill/>
          <a:ln w="9525" cap="flat" cmpd="sng">
            <a:solidFill>
              <a:srgbClr val="FFC52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" name="Google Shape;138;p19"/>
          <p:cNvCxnSpPr/>
          <p:nvPr/>
        </p:nvCxnSpPr>
        <p:spPr>
          <a:xfrm>
            <a:off x="1116525" y="2998225"/>
            <a:ext cx="23616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19"/>
          <p:cNvCxnSpPr/>
          <p:nvPr/>
        </p:nvCxnSpPr>
        <p:spPr>
          <a:xfrm rot="10800000">
            <a:off x="3478025" y="2998225"/>
            <a:ext cx="0" cy="1266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5" name="Google Shape;135;p19"/>
          <p:cNvSpPr txBox="1"/>
          <p:nvPr/>
        </p:nvSpPr>
        <p:spPr>
          <a:xfrm>
            <a:off x="6108000" y="2356700"/>
            <a:ext cx="2686500" cy="698100"/>
          </a:xfrm>
          <a:prstGeom prst="rect">
            <a:avLst/>
          </a:prstGeom>
          <a:noFill/>
          <a:ln w="9525" cap="flat" cmpd="sng">
            <a:solidFill>
              <a:srgbClr val="FFC5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reach DTH max reading the thermocouple would need to reach 302°C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6104700" y="3453800"/>
            <a:ext cx="2686500" cy="698100"/>
          </a:xfrm>
          <a:prstGeom prst="rect">
            <a:avLst/>
          </a:prstGeom>
          <a:noFill/>
          <a:ln w="9525" cap="flat" cmpd="sng">
            <a:solidFill>
              <a:srgbClr val="FFC5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It is not an exact multiplication of numbers, it is a line equation</a:t>
            </a:r>
            <a:endParaRPr sz="13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41" name="Google Shape;141;p19"/>
          <p:cNvCxnSpPr/>
          <p:nvPr/>
        </p:nvCxnSpPr>
        <p:spPr>
          <a:xfrm rot="10800000">
            <a:off x="2205963" y="3596275"/>
            <a:ext cx="3887700" cy="224700"/>
          </a:xfrm>
          <a:prstGeom prst="straightConnector1">
            <a:avLst/>
          </a:prstGeom>
          <a:noFill/>
          <a:ln w="9525" cap="flat" cmpd="sng">
            <a:solidFill>
              <a:srgbClr val="FFC52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oni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242</Words>
  <Application>Microsoft Office PowerPoint</Application>
  <PresentationFormat>On-screen Show (16:9)</PresentationFormat>
  <Paragraphs>23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Poppins</vt:lpstr>
      <vt:lpstr>Poppins Medium</vt:lpstr>
      <vt:lpstr>Muli</vt:lpstr>
      <vt:lpstr>Arial</vt:lpstr>
      <vt:lpstr>Ooni</vt:lpstr>
      <vt:lpstr>Applying temperature readout adjustment </vt:lpstr>
      <vt:lpstr>Problem Statement   </vt:lpstr>
      <vt:lpstr>PowerPoint Presentation</vt:lpstr>
      <vt:lpstr>DTH Logic Overview</vt:lpstr>
      <vt:lpstr>How a coefficient is made</vt:lpstr>
      <vt:lpstr>Koda 2 Pro Coefficient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Ruairidh Cullen</dc:creator>
  <cp:lastModifiedBy>Ruairidh Cullen</cp:lastModifiedBy>
  <cp:revision>1</cp:revision>
  <dcterms:modified xsi:type="dcterms:W3CDTF">2026-06-01T14:50:39Z</dcterms:modified>
</cp:coreProperties>
</file>